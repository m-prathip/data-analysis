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3.png"/><Relationship Id="rId8" Type="http://schemas.openxmlformats.org/officeDocument/2006/relationships/image" Target="../media/image8.png"/><Relationship Id="rId9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Relationship Id="rId8" Type="http://schemas.openxmlformats.org/officeDocument/2006/relationships/image" Target="../media/image1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90386" y="2361307"/>
            <a:ext cx="9811226" cy="904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4800" i="0" u="none">
                <a:solidFill>
                  <a:srgbClr val="0F172A"/>
                </a:solidFill>
                <a:latin typeface="Poppins"/>
              </a:rPr>
              <a:t>Sales Performance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23987" y="3409057"/>
            <a:ext cx="9344025" cy="3656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b="0" sz="1800" i="0" u="none">
                <a:solidFill>
                  <a:srgbClr val="1D4ED8"/>
                </a:solidFill>
                <a:latin typeface="Lato"/>
              </a:rPr>
              <a:t>Data Analytics Internship Report - Adviyo Technologies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23987" y="4155727"/>
            <a:ext cx="9344025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Lato SemiBold"/>
              </a:rPr>
              <a:t>Data Analysis, SQL, Python EDA, Power BI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600200"/>
            <a:ext cx="5286375" cy="379645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1600200"/>
            <a:ext cx="5286375" cy="379645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0600" y="1981200"/>
            <a:ext cx="4710588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100" i="0" u="none">
                <a:solidFill>
                  <a:srgbClr val="1E293B"/>
                </a:solidFill>
                <a:latin typeface="Poppins SemiBold"/>
              </a:rPr>
              <a:t>Key Objectives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0600" y="2524125"/>
            <a:ext cx="4486275" cy="82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Lato"/>
              </a:rPr>
              <a:t>The core problem addressed by this project was to design a repeatable analytics pipeline converting raw sales records into clear, quantified, and visual business insight.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53225" y="1981200"/>
            <a:ext cx="4710588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100" i="0" u="none">
                <a:solidFill>
                  <a:srgbClr val="1E293B"/>
                </a:solidFill>
                <a:latin typeface="Poppins SemiBold"/>
              </a:rPr>
              <a:t>Project Scope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53225" y="2524125"/>
            <a:ext cx="4486275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Lato"/>
              </a:rPr>
              <a:t>The dataset mirrors the analytics workflow followed by data teams in the industry, allowing for scalable insights.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0600" y="3537495"/>
            <a:ext cx="4486275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475569"/>
                </a:solidFill>
                <a:latin typeface="Lato"/>
              </a:rPr>
              <a:t>1.</a:t>
            </a:r>
            <a:r>
              <a:rPr b="0" sz="1350" i="0" u="none">
                <a:solidFill>
                  <a:srgbClr val="475569"/>
                </a:solidFill>
                <a:latin typeface="Lato"/>
              </a:rPr>
              <a:t> Clean and preprocess raw sales data.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0600" y="3907035"/>
            <a:ext cx="4486275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475569"/>
                </a:solidFill>
                <a:latin typeface="Lato"/>
              </a:rPr>
              <a:t>2.</a:t>
            </a:r>
            <a:r>
              <a:rPr b="0" sz="1350" i="0" u="none">
                <a:solidFill>
                  <a:srgbClr val="475569"/>
                </a:solidFill>
                <a:latin typeface="Lato"/>
              </a:rPr>
              <a:t> Extract KPIs using SQL queries.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0600" y="4276576"/>
            <a:ext cx="4486275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475569"/>
                </a:solidFill>
                <a:latin typeface="Lato"/>
              </a:rPr>
              <a:t>3.</a:t>
            </a:r>
            <a:r>
              <a:rPr b="0" sz="1350" i="0" u="none">
                <a:solidFill>
                  <a:srgbClr val="475569"/>
                </a:solidFill>
                <a:latin typeface="Lato"/>
              </a:rPr>
              <a:t> Perform Python-based EDA for trends.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0600" y="4646116"/>
            <a:ext cx="4486275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475569"/>
                </a:solidFill>
                <a:latin typeface="Lato"/>
              </a:rPr>
              <a:t>4.</a:t>
            </a:r>
            <a:r>
              <a:rPr b="0" sz="1350" i="0" u="none">
                <a:solidFill>
                  <a:srgbClr val="475569"/>
                </a:solidFill>
                <a:latin typeface="Lato"/>
              </a:rPr>
              <a:t> Build an interactive Power BI Dashboard.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53225" y="3263205"/>
            <a:ext cx="4486275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475569"/>
                </a:solidFill>
                <a:latin typeface="Lato"/>
              </a:rPr>
              <a:t>Dataset Volume:</a:t>
            </a:r>
            <a:r>
              <a:rPr b="0" sz="1350" i="0" u="none">
                <a:solidFill>
                  <a:srgbClr val="475569"/>
                </a:solidFill>
                <a:latin typeface="Lato"/>
              </a:rPr>
              <a:t> 150 transaction records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53225" y="3632745"/>
            <a:ext cx="4486275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475569"/>
                </a:solidFill>
                <a:latin typeface="Lato"/>
              </a:rPr>
              <a:t>Timeframe:</a:t>
            </a:r>
            <a:r>
              <a:rPr b="0" sz="1350" i="0" u="none">
                <a:solidFill>
                  <a:srgbClr val="475569"/>
                </a:solidFill>
                <a:latin typeface="Lato"/>
              </a:rPr>
              <a:t> Calendar year 2025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53225" y="4002285"/>
            <a:ext cx="4486275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475569"/>
                </a:solidFill>
                <a:latin typeface="Lato"/>
              </a:rPr>
              <a:t>Categories:</a:t>
            </a:r>
            <a:r>
              <a:rPr b="0" sz="1350" i="0" u="none">
                <a:solidFill>
                  <a:srgbClr val="475569"/>
                </a:solidFill>
                <a:latin typeface="Lato"/>
              </a:rPr>
              <a:t> Furniture, Office Supplies, Technology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53225" y="4371826"/>
            <a:ext cx="4486275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475569"/>
                </a:solidFill>
                <a:latin typeface="Lato"/>
              </a:rPr>
              <a:t>Geography:</a:t>
            </a:r>
            <a:r>
              <a:rPr b="0" sz="1350" i="0" u="none">
                <a:solidFill>
                  <a:srgbClr val="475569"/>
                </a:solidFill>
                <a:latin typeface="Lato"/>
              </a:rPr>
              <a:t> 5 Regions, 15 States across India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500" y="647700"/>
            <a:ext cx="116014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000" i="0" u="none">
                <a:solidFill>
                  <a:srgbClr val="0F172A"/>
                </a:solidFill>
                <a:latin typeface="Poppins SemiBold"/>
              </a:rPr>
              <a:t>Project Objectives &amp; Scope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600" y="3556545"/>
            <a:ext cx="85725" cy="14287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600" y="3926085"/>
            <a:ext cx="85725" cy="14287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600" y="4295626"/>
            <a:ext cx="85725" cy="14287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600" y="4665166"/>
            <a:ext cx="85725" cy="142875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3225" y="3282255"/>
            <a:ext cx="85725" cy="142875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3225" y="3651795"/>
            <a:ext cx="85725" cy="142875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3225" y="4021335"/>
            <a:ext cx="85725" cy="142875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3225" y="4390876"/>
            <a:ext cx="85725" cy="1428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1600200"/>
            <a:ext cx="5286375" cy="3810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1500" y="1790700"/>
            <a:ext cx="5286375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Lato"/>
              </a:rPr>
              <a:t>Modern data analytics addresses limitations of manual spreadsheet reporting by utilizing a robust, layered approach.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7250" y="2482155"/>
            <a:ext cx="5000625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475569"/>
                </a:solidFill>
                <a:latin typeface="Lato"/>
              </a:rPr>
              <a:t>Stage 1 (Data Collection):</a:t>
            </a:r>
            <a:r>
              <a:rPr b="0" sz="1350" i="0" u="none">
                <a:solidFill>
                  <a:srgbClr val="475569"/>
                </a:solidFill>
                <a:latin typeface="Lato"/>
              </a:rPr>
              <a:t> Sourcing raw transactional data in CSV format.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7250" y="3221235"/>
            <a:ext cx="5000625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475569"/>
                </a:solidFill>
                <a:latin typeface="Lato"/>
              </a:rPr>
              <a:t>Stage 2 (Cleaning):</a:t>
            </a:r>
            <a:r>
              <a:rPr b="0" sz="1350" i="0" u="none">
                <a:solidFill>
                  <a:srgbClr val="475569"/>
                </a:solidFill>
                <a:latin typeface="Lato"/>
              </a:rPr>
              <a:t> Removing nulls, casting dates, and standardizing via Pandas.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7250" y="3960316"/>
            <a:ext cx="5000625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475569"/>
                </a:solidFill>
                <a:latin typeface="Lato"/>
              </a:rPr>
              <a:t>Stage 3 (SQL Analysis):</a:t>
            </a:r>
            <a:r>
              <a:rPr b="0" sz="1350" i="0" u="none">
                <a:solidFill>
                  <a:srgbClr val="475569"/>
                </a:solidFill>
                <a:latin typeface="Lato"/>
              </a:rPr>
              <a:t> Aggregating massive datasets to derive business KPIs.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7250" y="4699396"/>
            <a:ext cx="5000625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475569"/>
                </a:solidFill>
                <a:latin typeface="Lato"/>
              </a:rPr>
              <a:t>Stage 4 (Python EDA):</a:t>
            </a:r>
            <a:r>
              <a:rPr b="0" sz="1350" i="0" u="none">
                <a:solidFill>
                  <a:srgbClr val="475569"/>
                </a:solidFill>
                <a:latin typeface="Lato"/>
              </a:rPr>
              <a:t> Visualizing hidden trends like seasonality using Matplotlib.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7250" y="5438477"/>
            <a:ext cx="5000625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475569"/>
                </a:solidFill>
                <a:latin typeface="Lato"/>
              </a:rPr>
              <a:t>Stage 5 (BI Dashboard):</a:t>
            </a:r>
            <a:r>
              <a:rPr b="0" sz="1350" i="0" u="none">
                <a:solidFill>
                  <a:srgbClr val="475569"/>
                </a:solidFill>
                <a:latin typeface="Lato"/>
              </a:rPr>
              <a:t> Interactive reporting via Power BI for stakeholders.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9412" y="4408140"/>
            <a:ext cx="44958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475569"/>
                </a:solidFill>
                <a:latin typeface="Lato SemiBold"/>
              </a:rPr>
              <a:t>Automated pipeline converting raw CSV transactions into Power BI insights.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5312" y="3441352"/>
            <a:ext cx="304800" cy="2667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91587" y="3608040"/>
            <a:ext cx="171450" cy="1905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367837" y="3755677"/>
            <a:ext cx="4381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1D4ED8"/>
                </a:solidFill>
                <a:latin typeface="Poppins"/>
              </a:rPr>
              <a:t>QUERY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53712" y="3441352"/>
            <a:ext cx="304800" cy="2667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71500" y="647700"/>
            <a:ext cx="116014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000" i="0" u="none">
                <a:solidFill>
                  <a:srgbClr val="0F172A"/>
                </a:solidFill>
                <a:latin typeface="Poppins SemiBold"/>
              </a:rPr>
              <a:t>The Analytics Pipeline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2501205"/>
            <a:ext cx="85725" cy="14287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3240285"/>
            <a:ext cx="85725" cy="14287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3979366"/>
            <a:ext cx="85725" cy="14287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4718446"/>
            <a:ext cx="85725" cy="14287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5457527"/>
            <a:ext cx="85725" cy="142875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8081962" y="2693640"/>
            <a:ext cx="1880235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oppins"/>
              </a:rPr>
              <a:t>Data Architecture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15162" y="3441352"/>
            <a:ext cx="266700" cy="2667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848475" y="3755677"/>
            <a:ext cx="60007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1D4ED8"/>
                </a:solidFill>
                <a:latin typeface="Poppins"/>
              </a:rPr>
              <a:t>EXTRACT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72387" y="3608040"/>
            <a:ext cx="171450" cy="1905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8158162" y="3755677"/>
            <a:ext cx="4191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1D4ED8"/>
                </a:solidFill>
                <a:latin typeface="Poppins"/>
              </a:rPr>
              <a:t>CLEAN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67850" y="3441352"/>
            <a:ext cx="238125" cy="26670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10787" y="3608040"/>
            <a:ext cx="171450" cy="1905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0706100" y="3755677"/>
            <a:ext cx="20002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1D4ED8"/>
                </a:solidFill>
                <a:latin typeface="Poppins"/>
              </a:rPr>
              <a:t>VIZ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1500" y="2998440"/>
            <a:ext cx="4895850" cy="1047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250"/>
              </a:lnSpc>
            </a:pPr>
            <a:r>
              <a:rPr b="1" sz="8250" i="0" u="none">
                <a:solidFill>
                  <a:srgbClr val="1D4ED8"/>
                </a:solidFill>
                <a:latin typeface="Poppins"/>
              </a:rPr>
              <a:t>₹59.1L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4141440"/>
            <a:ext cx="4895850" cy="3656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0" sz="1800" i="0" u="none">
                <a:solidFill>
                  <a:srgbClr val="0F172A"/>
                </a:solidFill>
                <a:latin typeface="Lato SemiBold"/>
              </a:rPr>
              <a:t>TOTAL SALES VALUE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24625" y="2652712"/>
            <a:ext cx="5350668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100" i="0" u="none">
                <a:solidFill>
                  <a:srgbClr val="1E293B"/>
                </a:solidFill>
                <a:latin typeface="Poppins SemiBold"/>
              </a:rPr>
              <a:t>Solid Financial Performance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24625" y="3195637"/>
            <a:ext cx="5095875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Lato"/>
              </a:rPr>
              <a:t>The analysis revealed a total sales value of ₹59,13,245 with an overall profit of </a:t>
            </a:r>
            <a:r>
              <a:rPr b="1" sz="1350" i="0" u="none">
                <a:solidFill>
                  <a:srgbClr val="475569"/>
                </a:solidFill>
                <a:latin typeface="Lato"/>
              </a:rPr>
              <a:t>₹4,86,178</a:t>
            </a:r>
            <a:r>
              <a:rPr b="0" sz="1350" i="0" u="none">
                <a:solidFill>
                  <a:srgbClr val="475569"/>
                </a:solidFill>
                <a:latin typeface="Lato"/>
              </a:rPr>
              <a:t>, yielding a steady profit margin of </a:t>
            </a:r>
            <a:r>
              <a:rPr b="1" sz="1350" i="0" u="none">
                <a:solidFill>
                  <a:srgbClr val="475569"/>
                </a:solidFill>
                <a:latin typeface="Lato"/>
              </a:rPr>
              <a:t>8.22%</a:t>
            </a:r>
            <a:r>
              <a:rPr b="0" sz="1350" i="0" u="none">
                <a:solidFill>
                  <a:srgbClr val="475569"/>
                </a:solidFill>
                <a:latin typeface="Lato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24625" y="3887092"/>
            <a:ext cx="5095875" cy="82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Lato"/>
              </a:rPr>
              <a:t>This volume was generated across 150 total orders by 20 unique customers, resulting in an impressively high Average Order Value (AOV) of </a:t>
            </a:r>
            <a:r>
              <a:rPr b="1" sz="1350" i="0" u="none">
                <a:solidFill>
                  <a:srgbClr val="475569"/>
                </a:solidFill>
                <a:latin typeface="Lato"/>
              </a:rPr>
              <a:t>₹39,421</a:t>
            </a:r>
            <a:r>
              <a:rPr b="0" sz="1350" i="0" u="none">
                <a:solidFill>
                  <a:srgbClr val="475569"/>
                </a:solidFill>
                <a:latin typeface="Lato"/>
              </a:rPr>
              <a:t> per transaction.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647700"/>
            <a:ext cx="116014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000" i="0" u="none">
                <a:solidFill>
                  <a:srgbClr val="0F172A"/>
                </a:solidFill>
                <a:latin typeface="Poppins SemiBold"/>
              </a:rPr>
              <a:t>Key Performance Indicators (2025)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600200"/>
            <a:ext cx="11049000" cy="46863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2000" y="3552825"/>
            <a:ext cx="1085850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1" u="none">
                <a:solidFill>
                  <a:srgbClr val="475569"/>
                </a:solidFill>
                <a:latin typeface="Lato"/>
              </a:rPr>
              <a:t>Furniture emerged as the highest-selling category and the top profit contributor (₹2.32L). At the sub-category level, Chairs and Tables generated the highest profit, making them a primary focus for inventory planning.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571500" y="3552825"/>
            <a:ext cx="28575" cy="54858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1500" y="647700"/>
            <a:ext cx="116014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000" i="0" u="none">
                <a:solidFill>
                  <a:srgbClr val="0F172A"/>
                </a:solidFill>
                <a:latin typeface="Poppins SemiBold"/>
              </a:rPr>
              <a:t>Category-wise Sales Performance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600200"/>
            <a:ext cx="11049000" cy="46863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2000" y="5410200"/>
            <a:ext cx="1085850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1" u="none">
                <a:solidFill>
                  <a:srgbClr val="475569"/>
                </a:solidFill>
                <a:latin typeface="Lato"/>
              </a:rPr>
              <a:t>The North and East regions are the strongest current markets, collectively accounting for over 55% of total sales. These regions represent ideal targets for focused marketing and expansion campaigns.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71500" y="5410200"/>
            <a:ext cx="28575" cy="54858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1500" y="647700"/>
            <a:ext cx="116014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000" i="0" u="none">
                <a:solidFill>
                  <a:srgbClr val="0F172A"/>
                </a:solidFill>
                <a:latin typeface="Poppins SemiBold"/>
              </a:rPr>
              <a:t>Regional Sales Distribution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397347"/>
            <a:ext cx="11049000" cy="509200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2000" y="5797897"/>
            <a:ext cx="1085850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1" u="none">
                <a:solidFill>
                  <a:srgbClr val="475569"/>
                </a:solidFill>
                <a:latin typeface="Lato"/>
              </a:rPr>
              <a:t>Sales hit peak volumes in January, August, and November, indicating strong seasonal demand linked to year-start purchasing, pre-year-end promotions, and festive seasons.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71500" y="5797897"/>
            <a:ext cx="28575" cy="54858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1500" y="444847"/>
            <a:ext cx="116014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000" i="0" u="none">
                <a:solidFill>
                  <a:srgbClr val="0F172A"/>
                </a:solidFill>
                <a:latin typeface="Poppins SemiBold"/>
              </a:rPr>
              <a:t>Monthly Sales Trend (2025)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1500" y="5512891"/>
            <a:ext cx="110490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475569"/>
                </a:solidFill>
                <a:latin typeface="Lato"/>
              </a:rPr>
              <a:t>Notably, no individual product in the dataset recorded a net loss across all its transactions, indicating that pricing and discounting were well controlled throughout the year.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1500" y="1695450"/>
            <a:ext cx="11049000" cy="3531691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71500" y="1695450"/>
          <a:ext cx="11048998" cy="35316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1268313"/>
                <a:gridCol w="2001142"/>
                <a:gridCol w="2903041"/>
                <a:gridCol w="4876502"/>
              </a:tblGrid>
              <a:tr h="588615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F172A"/>
                          </a:solidFill>
                          <a:latin typeface="Poppins"/>
                        </a:rPr>
                        <a:t>Rank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F172A"/>
                          </a:solidFill>
                          <a:latin typeface="Poppins"/>
                        </a:rPr>
                        <a:t>State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F172A"/>
                          </a:solidFill>
                          <a:latin typeface="Poppins"/>
                        </a:rPr>
                        <a:t>Total Profit (₹)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F172A"/>
                          </a:solidFill>
                          <a:latin typeface="Poppins"/>
                        </a:rPr>
                        <a:t>Strategic Assessment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588615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334155"/>
                          </a:solidFill>
                          <a:latin typeface="Lato"/>
                        </a:rPr>
                        <a:t>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Lato"/>
                        </a:rPr>
                        <a:t>Odisha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Lato"/>
                        </a:rPr>
                        <a:t>80,674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Lato"/>
                        </a:rPr>
                        <a:t>Primary growth target; highly lucrative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88615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334155"/>
                          </a:solidFill>
                          <a:latin typeface="Lato"/>
                        </a:rPr>
                        <a:t>2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Lato"/>
                        </a:rPr>
                        <a:t>Maharashtra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Lato"/>
                        </a:rPr>
                        <a:t>49,389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Lato"/>
                        </a:rPr>
                        <a:t>Strong commercial hub driving stability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88615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334155"/>
                          </a:solidFill>
                          <a:latin typeface="Lato"/>
                        </a:rPr>
                        <a:t>3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Lato"/>
                        </a:rPr>
                        <a:t>Telangana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Lato"/>
                        </a:rPr>
                        <a:t>48,676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Lato"/>
                        </a:rPr>
                        <a:t>Rapidly expanding market presence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88615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334155"/>
                          </a:solidFill>
                          <a:latin typeface="Lato"/>
                        </a:rPr>
                        <a:t>4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Lato"/>
                        </a:rPr>
                        <a:t>Bihar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Lato"/>
                        </a:rPr>
                        <a:t>43,235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Lato"/>
                        </a:rPr>
                        <a:t>Emerging market with consistent yields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88616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334155"/>
                          </a:solidFill>
                          <a:latin typeface="Lato"/>
                        </a:rPr>
                        <a:t>5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Lato"/>
                        </a:rPr>
                        <a:t>Delhi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Lato"/>
                        </a:rPr>
                        <a:t>43,191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Lato"/>
                        </a:rPr>
                        <a:t>Steady contributor in the North region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71500" y="2269777"/>
            <a:ext cx="126831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39813" y="2269777"/>
            <a:ext cx="200114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40956" y="2269777"/>
            <a:ext cx="290304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743997" y="2269777"/>
            <a:ext cx="487650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71500" y="2858392"/>
            <a:ext cx="126831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839813" y="2858392"/>
            <a:ext cx="200114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840956" y="2858392"/>
            <a:ext cx="290304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743997" y="2858392"/>
            <a:ext cx="487650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71500" y="3447008"/>
            <a:ext cx="126831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839813" y="3447008"/>
            <a:ext cx="200114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840956" y="3447008"/>
            <a:ext cx="290304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743997" y="3447008"/>
            <a:ext cx="487650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71500" y="4035623"/>
            <a:ext cx="126831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839813" y="4035623"/>
            <a:ext cx="200114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840956" y="4035623"/>
            <a:ext cx="290304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743997" y="4035623"/>
            <a:ext cx="487650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71500" y="4624238"/>
            <a:ext cx="126831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839813" y="4624238"/>
            <a:ext cx="200114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840956" y="4624238"/>
            <a:ext cx="290304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743997" y="4624238"/>
            <a:ext cx="487650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71500" y="5212853"/>
            <a:ext cx="126831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839813" y="5212853"/>
            <a:ext cx="200114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840956" y="5212853"/>
            <a:ext cx="290304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743997" y="5212853"/>
            <a:ext cx="487650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71500" y="647700"/>
            <a:ext cx="116014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000" i="0" u="none">
                <a:solidFill>
                  <a:srgbClr val="0F172A"/>
                </a:solidFill>
                <a:latin typeface="Poppins SemiBold"/>
              </a:rPr>
              <a:t>Top 5 Most Profitable States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600200"/>
            <a:ext cx="3492549" cy="368409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9799" y="1600200"/>
            <a:ext cx="3492549" cy="3684091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8099" y="1600200"/>
            <a:ext cx="3492549" cy="368409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9625" y="2619375"/>
            <a:ext cx="3167114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100" i="0" u="none">
                <a:solidFill>
                  <a:srgbClr val="1E293B"/>
                </a:solidFill>
                <a:latin typeface="Poppins SemiBold"/>
              </a:rPr>
              <a:t>High-Value Accounts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625" y="3162300"/>
            <a:ext cx="3016299" cy="16457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Lato"/>
              </a:rPr>
              <a:t>A small group of ten high-value customers contributes a disproportionately large share of revenue, supporting a strong business case for an exclusive key-account loyalty program.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87924" y="2619375"/>
            <a:ext cx="3167114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100" i="0" u="none">
                <a:solidFill>
                  <a:srgbClr val="1E293B"/>
                </a:solidFill>
                <a:latin typeface="Poppins SemiBold"/>
              </a:rPr>
              <a:t>Pricing &amp; Discounts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87924" y="3162300"/>
            <a:ext cx="3016299" cy="13714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Lato"/>
              </a:rPr>
              <a:t>The average discount of 15.4% showed a weak negative correlation (-0.11) with profit. This indicates discounting alone is not eroding profitability and is currently well-managed.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66224" y="2619375"/>
            <a:ext cx="3167114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100" i="0" u="none">
                <a:solidFill>
                  <a:srgbClr val="1E293B"/>
                </a:solidFill>
                <a:latin typeface="Poppins SemiBold"/>
              </a:rPr>
              <a:t>Expansion Priorities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224" y="3162300"/>
            <a:ext cx="3016299" cy="16457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Lato"/>
              </a:rPr>
              <a:t>States like Odisha and Maharashtra generate the highest net profits. Meanwhile, states like West Bengal and Tamil Nadu require a comprehensive review of local pricing and cost structures.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625" y="2009775"/>
            <a:ext cx="476250" cy="3810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87924" y="2009775"/>
            <a:ext cx="285750" cy="3810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66224" y="2009775"/>
            <a:ext cx="428625" cy="381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71500" y="647700"/>
            <a:ext cx="116014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000" i="0" u="none">
                <a:solidFill>
                  <a:srgbClr val="0F172A"/>
                </a:solidFill>
                <a:latin typeface="Poppins SemiBold"/>
              </a:rPr>
              <a:t>Key Strategic Insights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0"/>
            <a:ext cx="6096000" cy="7524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552575"/>
            <a:ext cx="2333625" cy="1905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6875" y="1552575"/>
            <a:ext cx="2333625" cy="1905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7500" y="3743325"/>
            <a:ext cx="4953000" cy="32099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2000" y="762000"/>
            <a:ext cx="48006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000" i="0" u="none">
                <a:solidFill>
                  <a:srgbClr val="0F172A"/>
                </a:solidFill>
                <a:latin typeface="Poppins SemiBold"/>
              </a:rPr>
              <a:t>Future Scope &amp; Next Steps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67500" y="571500"/>
            <a:ext cx="4953000" cy="409575"/>
          </a:xfrm>
          <a:prstGeom prst="rect">
            <a:avLst/>
          </a:prstGeom>
          <a:noFill/>
        </p:spPr>
        <p:txBody>
          <a:bodyPr wrap="square" lIns="409575" rIns="0" tIns="0" bIns="0" anchor="t">
            <a:spAutoFit/>
          </a:bodyPr>
          <a:lstStyle/>
          <a:p>
            <a:pPr algn="l"/>
            <a:r>
              <a:rPr b="0" sz="2100" i="0" u="none">
                <a:solidFill>
                  <a:srgbClr val="FFFFFF"/>
                </a:solidFill>
                <a:latin typeface="Poppins SemiBold"/>
              </a:rPr>
              <a:t>Executive Analytics Portal</a:t>
            </a:r>
          </a:p>
        </p:txBody>
      </p:sp>
      <p:sp>
        <p:nvSpPr>
          <p:cNvPr id="9" name="Rectangle 8"/>
          <p:cNvSpPr/>
          <p:nvPr/>
        </p:nvSpPr>
        <p:spPr>
          <a:xfrm>
            <a:off x="6667500" y="1162050"/>
            <a:ext cx="49530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2190750"/>
            <a:ext cx="4800600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1D4ED8"/>
                </a:solidFill>
                <a:latin typeface="Poppins SemiBold"/>
              </a:rPr>
              <a:t>Scalability &amp; Automation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2667000"/>
            <a:ext cx="4572000" cy="121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475569"/>
                </a:solidFill>
                <a:latin typeface="Lato"/>
              </a:rPr>
              <a:t>The pipeline designed in this internship can be seamlessly scaled to larger, real-time transactional databases using automated ETL (Extract, Transform, Load) scheduling processes.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4076700"/>
            <a:ext cx="4800600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1D4ED8"/>
                </a:solidFill>
                <a:latin typeface="Poppins SemiBold"/>
              </a:rPr>
              <a:t>Advanced Capabilities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4552950"/>
            <a:ext cx="4572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475569"/>
                </a:solidFill>
                <a:latin typeface="Lato"/>
              </a:rPr>
              <a:t>Future enhancements include integrating Machine Learning models for predictive sales forecasting, allowing proactive inventory planning.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5657850"/>
            <a:ext cx="4572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475569"/>
                </a:solidFill>
                <a:latin typeface="Lato"/>
              </a:rPr>
              <a:t>Additionally, publishing the Power BI dashboard to the cloud service will enable secure, live web-based access for remote stakeholders.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67500" y="628650"/>
            <a:ext cx="266700" cy="2667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286625" y="2138362"/>
            <a:ext cx="109537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b="1" sz="3600" i="0" u="none">
                <a:solidFill>
                  <a:srgbClr val="60A5FA"/>
                </a:solidFill>
                <a:latin typeface="Poppins"/>
              </a:rPr>
              <a:t>8.2%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67575" y="2690812"/>
            <a:ext cx="1133475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94A3B8"/>
                </a:solidFill>
                <a:latin typeface="Lato SemiBold"/>
              </a:rPr>
              <a:t>NET MARGIN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20287" y="2138362"/>
            <a:ext cx="1066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b="1" sz="3600" i="0" u="none">
                <a:solidFill>
                  <a:srgbClr val="60A5FA"/>
                </a:solidFill>
                <a:latin typeface="Poppins"/>
              </a:rPr>
              <a:t>₹59L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39325" y="2690812"/>
            <a:ext cx="1228725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94A3B8"/>
                </a:solidFill>
                <a:latin typeface="Lato SemiBold"/>
              </a:rPr>
              <a:t>YTD REVENUE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62775" y="4038600"/>
            <a:ext cx="321945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94A3B8"/>
                </a:solidFill>
                <a:latin typeface="Lato SemiBold"/>
              </a:rPr>
              <a:t>PREDICTIVE GROWTH MODEL (2026)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